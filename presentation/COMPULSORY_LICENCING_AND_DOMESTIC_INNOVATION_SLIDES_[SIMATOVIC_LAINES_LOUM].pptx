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  <p:sldMasterId id="214748367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embeddedFontLst>
    <p:embeddedFont>
      <p:font typeface="DM Sans" pitchFamily="2" charset="0"/>
      <p:regular r:id="rId15"/>
      <p:bold r:id="rId16"/>
      <p:italic r:id="rId17"/>
      <p:boldItalic r:id="rId18"/>
    </p:embeddedFont>
    <p:embeddedFont>
      <p:font typeface="Merriweather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7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8905b7188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g3b8905b7188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8905b7188_2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b8905b7188_2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8905b7188_2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g3b8905b7188_2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8905b7188_2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3b8905b7188_2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8905b7188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8" name="Google Shape;178;g3b8905b7188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8905b7188_2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6" name="Google Shape;196;g3b8905b7188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8905b7188_2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4" name="Google Shape;214;g3b8905b7188_2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b8905b7188_2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5" name="Google Shape;235;g3b8905b7188_2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8905b7188_2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1" name="Google Shape;251;g3b8905b7188_2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8905b718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b8905b718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b8905b7188_2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1" name="Google Shape;271;g3b8905b7188_2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2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1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body" idx="2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3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4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>
            <a:spLocks noGrp="1"/>
          </p:cNvSpPr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body" idx="1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2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>
            <a:spLocks noGrp="1"/>
          </p:cNvSpPr>
          <p:nvPr>
            <p:ph type="pic" idx="2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 rot="5400000">
            <a:off x="3549254" y="1628776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/>
        </p:nvSpPr>
        <p:spPr>
          <a:xfrm>
            <a:off x="1357313" y="1217451"/>
            <a:ext cx="6429375" cy="182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REPLICATION REPORT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4"/>
          <p:cNvSpPr txBox="1"/>
          <p:nvPr/>
        </p:nvSpPr>
        <p:spPr>
          <a:xfrm>
            <a:off x="1196578" y="1543161"/>
            <a:ext cx="6750844" cy="100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fr" sz="36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Compulsory Licensing and Domestic Innovation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4"/>
          <p:cNvSpPr txBox="1"/>
          <p:nvPr/>
        </p:nvSpPr>
        <p:spPr>
          <a:xfrm>
            <a:off x="1357313" y="2720318"/>
            <a:ext cx="6429375" cy="274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1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A Critical Re-examination of Moser and Voena (2012)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4"/>
          <p:cNvSpPr/>
          <p:nvPr/>
        </p:nvSpPr>
        <p:spPr>
          <a:xfrm>
            <a:off x="4036219" y="3208882"/>
            <a:ext cx="1071563" cy="7144"/>
          </a:xfrm>
          <a:prstGeom prst="rect">
            <a:avLst/>
          </a:prstGeom>
          <a:solidFill>
            <a:srgbClr val="F3F0D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4"/>
          <p:cNvSpPr txBox="1"/>
          <p:nvPr/>
        </p:nvSpPr>
        <p:spPr>
          <a:xfrm>
            <a:off x="1357313" y="3430339"/>
            <a:ext cx="6429375" cy="205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" sz="10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Lucas Simatovic, Betsy Laines, Khadijatou Loum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4"/>
          <p:cNvSpPr txBox="1"/>
          <p:nvPr/>
        </p:nvSpPr>
        <p:spPr>
          <a:xfrm>
            <a:off x="1357313" y="3750357"/>
            <a:ext cx="6429375" cy="182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16 January 2026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5" descr="Améliorer cette diapositiv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5719" y="0"/>
            <a:ext cx="921543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0" y="1264444"/>
            <a:ext cx="2714625" cy="3593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14688" y="1264444"/>
            <a:ext cx="2714625" cy="3593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43625" y="1264444"/>
            <a:ext cx="2714625" cy="359330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6"/>
          <p:cNvSpPr txBox="1"/>
          <p:nvPr/>
        </p:nvSpPr>
        <p:spPr>
          <a:xfrm>
            <a:off x="450413" y="2000250"/>
            <a:ext cx="238529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" sz="1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Availability &amp; Completeness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546497" y="2736056"/>
            <a:ext cx="2193131" cy="182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AER Replication Package &amp; ICPSR.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507206" y="3140348"/>
            <a:ext cx="2271713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Dataset:</a:t>
            </a:r>
            <a:r>
              <a:rPr lang="fr" sz="9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~130,000 chemical inventions (1875-1939).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507206" y="3727474"/>
            <a:ext cx="2271713" cy="548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1" i="0" u="none" strike="noStrike" cap="none">
                <a:solidFill>
                  <a:srgbClr val="C0392B"/>
                </a:solidFill>
                <a:latin typeface="DM Sans"/>
                <a:ea typeface="DM Sans"/>
                <a:cs typeface="DM Sans"/>
                <a:sym typeface="DM Sans"/>
              </a:rPr>
              <a:t>Issue:</a:t>
            </a:r>
            <a:r>
              <a:rPr lang="fr" sz="900" b="0" i="0" u="none" strike="noStrike" cap="none">
                <a:solidFill>
                  <a:srgbClr val="C0392B"/>
                </a:solidFill>
                <a:latin typeface="DM Sans"/>
                <a:ea typeface="DM Sans"/>
                <a:cs typeface="DM Sans"/>
                <a:sym typeface="DM Sans"/>
              </a:rPr>
              <a:t> Raw patent-level data is missing; package starts at aggregated subclass-year level.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3743146" y="2000250"/>
            <a:ext cx="165770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" sz="1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Unit of Analysis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3436144" y="2478881"/>
            <a:ext cx="2271713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USPTO Subclass:</a:t>
            </a:r>
            <a:r>
              <a:rPr lang="fr" sz="9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Represents specific tech areas (Azo dyes).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3436144" y="3066007"/>
            <a:ext cx="2271713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Treatment Group:</a:t>
            </a:r>
            <a:r>
              <a:rPr lang="fr" sz="9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336 subclasses with at least one licensed German patent.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6"/>
          <p:cNvSpPr txBox="1"/>
          <p:nvPr/>
        </p:nvSpPr>
        <p:spPr>
          <a:xfrm>
            <a:off x="3436144" y="3653135"/>
            <a:ext cx="2271713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Control Group:</a:t>
            </a:r>
            <a:r>
              <a:rPr lang="fr" sz="9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6,912 chemical subclasses without licensed enemy patents.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6"/>
          <p:cNvSpPr txBox="1"/>
          <p:nvPr/>
        </p:nvSpPr>
        <p:spPr>
          <a:xfrm>
            <a:off x="6405800" y="2000250"/>
            <a:ext cx="2190274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" sz="1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Descriptive Statistics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6897290" y="2478881"/>
            <a:ext cx="1207294" cy="182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Pre-1918 Differences: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18047" y="1521619"/>
            <a:ext cx="250031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46984" y="1521619"/>
            <a:ext cx="250031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40203" y="1521619"/>
            <a:ext cx="32146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6"/>
          <p:cNvSpPr txBox="1"/>
          <p:nvPr/>
        </p:nvSpPr>
        <p:spPr>
          <a:xfrm>
            <a:off x="6493669" y="2883173"/>
            <a:ext cx="5000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6543675" y="2801531"/>
            <a:ext cx="209311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Domestic Patents: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Treated subclasses had </a:t>
            </a:r>
            <a:r>
              <a:rPr lang="fr" sz="1100" b="0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fewer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(0.13 vs 0.31).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6"/>
          <p:cNvSpPr txBox="1"/>
          <p:nvPr/>
        </p:nvSpPr>
        <p:spPr>
          <a:xfrm>
            <a:off x="6493669" y="3676129"/>
            <a:ext cx="5000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6"/>
          <p:cNvSpPr txBox="1"/>
          <p:nvPr/>
        </p:nvSpPr>
        <p:spPr>
          <a:xfrm>
            <a:off x="6543675" y="3602650"/>
            <a:ext cx="209311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German Share: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Treated subclasses were heavily reliant on German tech (17% vs 2%).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6"/>
          <p:cNvSpPr txBox="1"/>
          <p:nvPr/>
        </p:nvSpPr>
        <p:spPr>
          <a:xfrm>
            <a:off x="285750" y="285750"/>
            <a:ext cx="8858250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fr" sz="27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Description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6"/>
          <p:cNvSpPr/>
          <p:nvPr/>
        </p:nvSpPr>
        <p:spPr>
          <a:xfrm>
            <a:off x="285750" y="821531"/>
            <a:ext cx="8572500" cy="14288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/>
        </p:nvSpPr>
        <p:spPr>
          <a:xfrm>
            <a:off x="285750" y="1509581"/>
            <a:ext cx="4350600" cy="24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" sz="1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"Push-Button" Replication Reality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7"/>
          <p:cNvSpPr txBox="1"/>
          <p:nvPr/>
        </p:nvSpPr>
        <p:spPr>
          <a:xfrm>
            <a:off x="285750" y="1909631"/>
            <a:ext cx="4143375" cy="45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provided code was insufficient for a full replication. Specifically, the code for generating figures was missing.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285750" y="3645562"/>
            <a:ext cx="4143375" cy="45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Key Result: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Coefficient of 0.055 (Column 1) confirms that innovation scales with the number of enemy patents.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5336381" y="4253569"/>
            <a:ext cx="2900475" cy="121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" sz="800" b="0" i="1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(Replication of Author's Table 3 - Intent to Treat Regressions)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414338" y="2554609"/>
            <a:ext cx="49950" cy="17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464344" y="2481131"/>
            <a:ext cx="3964725" cy="45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Action Taken: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We manually reconstructed all figures using Stata, extracting coefficients from TWFE models.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7"/>
          <p:cNvSpPr txBox="1"/>
          <p:nvPr/>
        </p:nvSpPr>
        <p:spPr>
          <a:xfrm>
            <a:off x="414338" y="3118963"/>
            <a:ext cx="49950" cy="17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464344" y="3045487"/>
            <a:ext cx="3964725" cy="45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Table 3 Replication: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We successfully reproduced the original findings.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285750" y="285750"/>
            <a:ext cx="8858250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fr" sz="27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Reproduction of Results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7"/>
          <p:cNvSpPr/>
          <p:nvPr/>
        </p:nvSpPr>
        <p:spPr>
          <a:xfrm>
            <a:off x="285750" y="821531"/>
            <a:ext cx="8572500" cy="14288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60911" y="1506434"/>
            <a:ext cx="4558382" cy="2468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8"/>
          <p:cNvSpPr txBox="1"/>
          <p:nvPr/>
        </p:nvSpPr>
        <p:spPr>
          <a:xfrm>
            <a:off x="428625" y="428625"/>
            <a:ext cx="3900488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fr" sz="27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Visual Evidence: The Structural Break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8"/>
          <p:cNvSpPr/>
          <p:nvPr/>
        </p:nvSpPr>
        <p:spPr>
          <a:xfrm>
            <a:off x="428625" y="1393031"/>
            <a:ext cx="3714750" cy="14288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428625" y="1621631"/>
            <a:ext cx="390048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" sz="1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Event-Study Analysis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428625" y="2128838"/>
            <a:ext cx="3714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visual analysis confirms the validity of the empirical strategy.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8"/>
          <p:cNvSpPr txBox="1"/>
          <p:nvPr/>
        </p:nvSpPr>
        <p:spPr>
          <a:xfrm>
            <a:off x="557213" y="2880972"/>
            <a:ext cx="5000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8"/>
          <p:cNvSpPr txBox="1"/>
          <p:nvPr/>
        </p:nvSpPr>
        <p:spPr>
          <a:xfrm>
            <a:off x="607219" y="2807494"/>
            <a:ext cx="353615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Pre-Treatment (Pre-1918):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Coefficients fluctuate around zero (Flat Trends). This validates the </a:t>
            </a:r>
            <a:r>
              <a:rPr lang="fr" sz="1100" b="0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Parallel Trends Assumption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8"/>
          <p:cNvSpPr txBox="1"/>
          <p:nvPr/>
        </p:nvSpPr>
        <p:spPr>
          <a:xfrm>
            <a:off x="557213" y="3673926"/>
            <a:ext cx="5000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607219" y="3600450"/>
            <a:ext cx="353615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Post-Treatment (Post-1918):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sharp, persistent structural break is visible.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557213" y="4246451"/>
            <a:ext cx="5000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8"/>
          <p:cNvSpPr txBox="1"/>
          <p:nvPr/>
        </p:nvSpPr>
        <p:spPr>
          <a:xfrm>
            <a:off x="607219" y="4164806"/>
            <a:ext cx="353615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Interpretation: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increase in domestic patenting was not a gradual artifact but a distinct shift triggered by the TWEA licensing.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93419" y="2607201"/>
            <a:ext cx="3536156" cy="2105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3420" y="318800"/>
            <a:ext cx="3536156" cy="2119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0" y="1264444"/>
            <a:ext cx="4143375" cy="3593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14875" y="1264444"/>
            <a:ext cx="4143375" cy="359330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9"/>
          <p:cNvSpPr txBox="1"/>
          <p:nvPr/>
        </p:nvSpPr>
        <p:spPr>
          <a:xfrm>
            <a:off x="507206" y="1485900"/>
            <a:ext cx="388548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" sz="1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Limits of TWFE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9"/>
          <p:cNvSpPr txBox="1"/>
          <p:nvPr/>
        </p:nvSpPr>
        <p:spPr>
          <a:xfrm>
            <a:off x="507206" y="1885950"/>
            <a:ext cx="370046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original paper relies on Two-Way Fixed Effects (TWFE). Recent literature (Goodman-Bacon, 2021) shows TWFE can be biased if treatment effects are dynamic.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507206" y="2943225"/>
            <a:ext cx="3700575" cy="45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Issue: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Averaging the effect into a single coefficient (𝞫) masks the timing of innovation.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9"/>
          <p:cNvSpPr txBox="1"/>
          <p:nvPr/>
        </p:nvSpPr>
        <p:spPr>
          <a:xfrm>
            <a:off x="4936331" y="1485900"/>
            <a:ext cx="388548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" sz="1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Event Study Re-Analysis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9"/>
          <p:cNvSpPr txBox="1"/>
          <p:nvPr/>
        </p:nvSpPr>
        <p:spPr>
          <a:xfrm>
            <a:off x="4936331" y="1885950"/>
            <a:ext cx="370046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We estimated a dynamic specification (Eq 3) to capture the timeline: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9"/>
          <p:cNvSpPr txBox="1"/>
          <p:nvPr/>
        </p:nvSpPr>
        <p:spPr>
          <a:xfrm>
            <a:off x="4936331" y="3164681"/>
            <a:ext cx="370046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Conclusion: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Results support the "Learning Hypothesis." U.S. firms needed 3-5 years to reverse-engineer German tacit knowledge.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9"/>
          <p:cNvSpPr txBox="1"/>
          <p:nvPr/>
        </p:nvSpPr>
        <p:spPr>
          <a:xfrm>
            <a:off x="5064919" y="2514599"/>
            <a:ext cx="5000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9"/>
          <p:cNvSpPr txBox="1"/>
          <p:nvPr/>
        </p:nvSpPr>
        <p:spPr>
          <a:xfrm>
            <a:off x="5114925" y="2457450"/>
            <a:ext cx="35218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1919-1920: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Small, marginal effects.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9"/>
          <p:cNvSpPr txBox="1"/>
          <p:nvPr/>
        </p:nvSpPr>
        <p:spPr>
          <a:xfrm>
            <a:off x="5064919" y="2866683"/>
            <a:ext cx="5000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9"/>
          <p:cNvSpPr txBox="1"/>
          <p:nvPr/>
        </p:nvSpPr>
        <p:spPr>
          <a:xfrm>
            <a:off x="5114925" y="2793206"/>
            <a:ext cx="35218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1921-1926: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Sharp rise and peak.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9"/>
          <p:cNvSpPr txBox="1"/>
          <p:nvPr/>
        </p:nvSpPr>
        <p:spPr>
          <a:xfrm>
            <a:off x="285750" y="285750"/>
            <a:ext cx="8858250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fr" sz="27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Methodological Critique &amp; Extensions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9"/>
          <p:cNvSpPr/>
          <p:nvPr/>
        </p:nvSpPr>
        <p:spPr>
          <a:xfrm>
            <a:off x="285750" y="821531"/>
            <a:ext cx="8572500" cy="14288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0" y="1264444"/>
            <a:ext cx="2714625" cy="3593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14688" y="1264444"/>
            <a:ext cx="2714625" cy="3593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43625" y="1264444"/>
            <a:ext cx="2714625" cy="359330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0"/>
          <p:cNvSpPr txBox="1"/>
          <p:nvPr/>
        </p:nvSpPr>
        <p:spPr>
          <a:xfrm>
            <a:off x="754201" y="2000250"/>
            <a:ext cx="177772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" sz="1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Market Structure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0"/>
          <p:cNvSpPr txBox="1"/>
          <p:nvPr/>
        </p:nvSpPr>
        <p:spPr>
          <a:xfrm>
            <a:off x="507206" y="2507456"/>
            <a:ext cx="227171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Finding: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Impact is driven by </a:t>
            </a:r>
            <a:r>
              <a:rPr lang="fr" sz="1100" b="0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Low Competition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subclasses.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0"/>
          <p:cNvSpPr txBox="1"/>
          <p:nvPr/>
        </p:nvSpPr>
        <p:spPr>
          <a:xfrm>
            <a:off x="507206" y="3214688"/>
            <a:ext cx="227171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 effectively dismantled monopolies where German dominance was high, lowering entry barriers for U.S. firms.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0"/>
          <p:cNvSpPr txBox="1"/>
          <p:nvPr/>
        </p:nvSpPr>
        <p:spPr>
          <a:xfrm>
            <a:off x="3525619" y="2000250"/>
            <a:ext cx="209276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" sz="1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Absorptive Capacity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0"/>
          <p:cNvSpPr txBox="1"/>
          <p:nvPr/>
        </p:nvSpPr>
        <p:spPr>
          <a:xfrm>
            <a:off x="3436144" y="2507456"/>
            <a:ext cx="227171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Finding: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Impact is driven by </a:t>
            </a:r>
            <a:r>
              <a:rPr lang="fr" sz="1100" b="0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High Capacity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subclasses.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0"/>
          <p:cNvSpPr txBox="1"/>
          <p:nvPr/>
        </p:nvSpPr>
        <p:spPr>
          <a:xfrm>
            <a:off x="3436144" y="3214688"/>
            <a:ext cx="227171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Access to knowledge only helps if domestic firms have the prior scientific capability to understand and utilize it.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0"/>
          <p:cNvSpPr txBox="1"/>
          <p:nvPr/>
        </p:nvSpPr>
        <p:spPr>
          <a:xfrm>
            <a:off x="6450806" y="2000250"/>
            <a:ext cx="210026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" sz="1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Treatment Intensity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0"/>
          <p:cNvSpPr txBox="1"/>
          <p:nvPr/>
        </p:nvSpPr>
        <p:spPr>
          <a:xfrm>
            <a:off x="6797278" y="2507456"/>
            <a:ext cx="140731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Finding: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Inconclusive.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0"/>
          <p:cNvSpPr txBox="1"/>
          <p:nvPr/>
        </p:nvSpPr>
        <p:spPr>
          <a:xfrm>
            <a:off x="6365081" y="2986088"/>
            <a:ext cx="227171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Lack of within-subclass variation prevented a causal interpretation of the "number of licenses" (dose-response).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00188" y="1521619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29125" y="1521619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58063" y="1521619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0"/>
          <p:cNvSpPr txBox="1"/>
          <p:nvPr/>
        </p:nvSpPr>
        <p:spPr>
          <a:xfrm>
            <a:off x="285750" y="285750"/>
            <a:ext cx="8858250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fr" sz="27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Heterogeneity: Where Does CL Work?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0"/>
          <p:cNvSpPr/>
          <p:nvPr/>
        </p:nvSpPr>
        <p:spPr>
          <a:xfrm>
            <a:off x="285750" y="821531"/>
            <a:ext cx="8572500" cy="14288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/>
        </p:nvSpPr>
        <p:spPr>
          <a:xfrm>
            <a:off x="285750" y="1109544"/>
            <a:ext cx="4350600" cy="24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" sz="1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Clustering Problem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1"/>
          <p:cNvSpPr txBox="1"/>
          <p:nvPr/>
        </p:nvSpPr>
        <p:spPr>
          <a:xfrm>
            <a:off x="285750" y="1710940"/>
            <a:ext cx="4143375" cy="7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original paper clustered standard errors at the </a:t>
            </a:r>
            <a:r>
              <a:rPr lang="fr" sz="11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Subclass Level</a:t>
            </a:r>
            <a:r>
              <a:rPr lang="fr" sz="11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(N=7,248). However, technologies are correlated within broader fields.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1"/>
          <p:cNvSpPr txBox="1"/>
          <p:nvPr/>
        </p:nvSpPr>
        <p:spPr>
          <a:xfrm>
            <a:off x="4611291" y="1109544"/>
            <a:ext cx="4350600" cy="24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" sz="1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Our Re-Analysis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1"/>
          <p:cNvSpPr txBox="1"/>
          <p:nvPr/>
        </p:nvSpPr>
        <p:spPr>
          <a:xfrm>
            <a:off x="4611300" y="1509594"/>
            <a:ext cx="4143375" cy="17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We re-clustered at the </a:t>
            </a:r>
            <a:r>
              <a:rPr lang="fr" sz="11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Main Class Level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(N=19).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4538951" y="2253714"/>
            <a:ext cx="4143375" cy="45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Conclusion:</a:t>
            </a:r>
            <a:r>
              <a:rPr lang="fr" sz="11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result is robust but statistically "fragile." The original certainty was overstated.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4587711" y="1803045"/>
            <a:ext cx="49950" cy="17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1"/>
          <p:cNvSpPr txBox="1"/>
          <p:nvPr/>
        </p:nvSpPr>
        <p:spPr>
          <a:xfrm>
            <a:off x="4776038" y="1738194"/>
            <a:ext cx="3964725" cy="17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Result: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Standard errors increased by ~1.5x.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1"/>
          <p:cNvSpPr txBox="1"/>
          <p:nvPr/>
        </p:nvSpPr>
        <p:spPr>
          <a:xfrm>
            <a:off x="4587711" y="2063609"/>
            <a:ext cx="49950" cy="17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1"/>
          <p:cNvSpPr txBox="1"/>
          <p:nvPr/>
        </p:nvSpPr>
        <p:spPr>
          <a:xfrm>
            <a:off x="4776011" y="1989560"/>
            <a:ext cx="3964725" cy="17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Significance: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P-value increased from &lt;0.001 to 0.04.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1"/>
          <p:cNvSpPr txBox="1"/>
          <p:nvPr/>
        </p:nvSpPr>
        <p:spPr>
          <a:xfrm>
            <a:off x="285750" y="285750"/>
            <a:ext cx="8858250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fr" sz="27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Robustness: Clustering Sensitivity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1"/>
          <p:cNvSpPr/>
          <p:nvPr/>
        </p:nvSpPr>
        <p:spPr>
          <a:xfrm>
            <a:off x="285750" y="821531"/>
            <a:ext cx="8572500" cy="14288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549" y="2995610"/>
            <a:ext cx="7410657" cy="1744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0" y="1810940"/>
            <a:ext cx="4143375" cy="2500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2894" y="1818084"/>
            <a:ext cx="4129088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2"/>
          <p:cNvSpPr txBox="1"/>
          <p:nvPr/>
        </p:nvSpPr>
        <p:spPr>
          <a:xfrm>
            <a:off x="4714875" y="1596628"/>
            <a:ext cx="4350544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" sz="1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How did the policy work?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2"/>
          <p:cNvSpPr txBox="1"/>
          <p:nvPr/>
        </p:nvSpPr>
        <p:spPr>
          <a:xfrm>
            <a:off x="4714875" y="1996678"/>
            <a:ext cx="4143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We analyzed intermediate channels to explain the surge in patenting: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2"/>
          <p:cNvSpPr txBox="1"/>
          <p:nvPr/>
        </p:nvSpPr>
        <p:spPr>
          <a:xfrm>
            <a:off x="4714875" y="3961209"/>
            <a:ext cx="4143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This confirms CL worked by improving access to </a:t>
            </a:r>
            <a:r>
              <a:rPr lang="fr" sz="1100" b="0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active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fr" sz="1100" b="0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relevant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foreign technology.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2"/>
          <p:cNvSpPr txBox="1"/>
          <p:nvPr/>
        </p:nvSpPr>
        <p:spPr>
          <a:xfrm>
            <a:off x="4843463" y="2633491"/>
            <a:ext cx="5000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2"/>
          <p:cNvSpPr txBox="1"/>
          <p:nvPr/>
        </p:nvSpPr>
        <p:spPr>
          <a:xfrm>
            <a:off x="4893469" y="2568178"/>
            <a:ext cx="396478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Stock of Licensed Patents:</a:t>
            </a:r>
            <a:r>
              <a:rPr lang="fr" sz="1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Significant increase in treated subclasses. The policy successfully reallocated IP rights.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2"/>
          <p:cNvSpPr txBox="1"/>
          <p:nvPr/>
        </p:nvSpPr>
        <p:spPr>
          <a:xfrm>
            <a:off x="4843463" y="3189682"/>
            <a:ext cx="5000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2"/>
          <p:cNvSpPr txBox="1"/>
          <p:nvPr/>
        </p:nvSpPr>
        <p:spPr>
          <a:xfrm>
            <a:off x="4893469" y="3132534"/>
            <a:ext cx="396478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Patent Quality (Lifetime):</a:t>
            </a:r>
            <a:r>
              <a:rPr lang="fr" sz="11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Licensed patents had longer remaining lifetimes. U.S. firms targeted economically valuable, active technologies, not expiring ones.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2"/>
          <p:cNvSpPr txBox="1"/>
          <p:nvPr/>
        </p:nvSpPr>
        <p:spPr>
          <a:xfrm>
            <a:off x="285750" y="285750"/>
            <a:ext cx="8858250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fr" sz="27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Mechanisms &amp; Intermediary Outcomes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2"/>
          <p:cNvSpPr/>
          <p:nvPr/>
        </p:nvSpPr>
        <p:spPr>
          <a:xfrm>
            <a:off x="285750" y="821531"/>
            <a:ext cx="8572500" cy="14288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3" descr="Améliorer cette diapositiv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/>
          <p:nvPr/>
        </p:nvSpPr>
        <p:spPr>
          <a:xfrm>
            <a:off x="142875" y="877230"/>
            <a:ext cx="8858250" cy="502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fr" sz="36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4"/>
          <p:cNvSpPr/>
          <p:nvPr/>
        </p:nvSpPr>
        <p:spPr>
          <a:xfrm>
            <a:off x="3857625" y="1737270"/>
            <a:ext cx="1428750" cy="14288"/>
          </a:xfrm>
          <a:prstGeom prst="rect">
            <a:avLst/>
          </a:prstGeom>
          <a:solidFill>
            <a:srgbClr val="F3F0D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4"/>
          <p:cNvSpPr txBox="1"/>
          <p:nvPr/>
        </p:nvSpPr>
        <p:spPr>
          <a:xfrm>
            <a:off x="285750" y="3930401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0" i="1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"Compulsory licensing effectively dismantled foreign monopolies, but required local absorptive capacity to succeed."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4"/>
          <p:cNvSpPr txBox="1"/>
          <p:nvPr/>
        </p:nvSpPr>
        <p:spPr>
          <a:xfrm>
            <a:off x="1714500" y="2108745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43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Internal Validity Confirmed:</a:t>
            </a:r>
            <a:r>
              <a:rPr lang="fr" sz="11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Moser &amp; Voena's core finding holds. CL increased U.S. innovation.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4"/>
          <p:cNvSpPr txBox="1"/>
          <p:nvPr/>
        </p:nvSpPr>
        <p:spPr>
          <a:xfrm>
            <a:off x="1714500" y="270882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43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Nuance Added:</a:t>
            </a:r>
            <a:r>
              <a:rPr lang="fr" sz="11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The effect is dynamic (3-5 year learning lag) and heterogeneous (works best against monopolies).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4"/>
          <p:cNvSpPr txBox="1"/>
          <p:nvPr/>
        </p:nvSpPr>
        <p:spPr>
          <a:xfrm>
            <a:off x="1714500" y="3308895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43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Caution:</a:t>
            </a:r>
            <a:r>
              <a:rPr lang="fr" sz="11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Statistical significance is sensitive to clustering choices.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4500" y="2200591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4500" y="279250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14500" y="3384413"/>
            <a:ext cx="1428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746</Words>
  <Application>Microsoft Office PowerPoint</Application>
  <PresentationFormat>Affichage à l'écran (16:9)</PresentationFormat>
  <Paragraphs>82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Merriweather</vt:lpstr>
      <vt:lpstr>Calibri</vt:lpstr>
      <vt:lpstr>Arial</vt:lpstr>
      <vt:lpstr>DM Sans</vt:lpstr>
      <vt:lpstr>Simple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Lucas Simatovic</cp:lastModifiedBy>
  <cp:revision>2</cp:revision>
  <dcterms:modified xsi:type="dcterms:W3CDTF">2026-01-20T10:51:20Z</dcterms:modified>
</cp:coreProperties>
</file>